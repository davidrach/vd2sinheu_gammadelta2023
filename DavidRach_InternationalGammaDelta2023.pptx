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7" r:id="rId2"/>
  </p:sldIdLst>
  <p:sldSz cx="28346400" cy="429768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80" userDrawn="1">
          <p15:clr>
            <a:srgbClr val="A4A3A4"/>
          </p15:clr>
        </p15:guide>
        <p15:guide id="2" pos="895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646A48-465E-4540-2CB8-F0EA56CB6749}" name="Rach, David" initials="RD" userId="S::drach@som.umaryland.edu::2dca5af8-ebcc-4d84-bf8e-00987f84f3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5EA"/>
    <a:srgbClr val="000000"/>
    <a:srgbClr val="F6F4D6"/>
    <a:srgbClr val="E1F2EF"/>
    <a:srgbClr val="800000"/>
    <a:srgbClr val="C8102E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281A7-61DD-441D-4386-0E088F1B422D}" v="76" vWet="78" dt="2023-05-18T03:52:05.812"/>
    <p1510:client id="{74956EA2-3342-4F35-BCA2-FF9A3F59A07B}" v="3461" dt="2023-05-18T12:53:24.943"/>
    <p1510:client id="{85A2DE90-DDC8-4E68-8654-7EF9BC4A10DD}" v="1580" dt="2023-05-18T12:53:58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911" autoAdjust="0"/>
    <p:restoredTop sz="94660"/>
  </p:normalViewPr>
  <p:slideViewPr>
    <p:cSldViewPr snapToGrid="0">
      <p:cViewPr>
        <p:scale>
          <a:sx n="30" d="100"/>
          <a:sy n="30" d="100"/>
        </p:scale>
        <p:origin x="2970" y="24"/>
      </p:cViewPr>
      <p:guideLst>
        <p:guide orient="horz" pos="13680"/>
        <p:guide pos="89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5980" y="7033475"/>
            <a:ext cx="24094440" cy="14962293"/>
          </a:xfrm>
        </p:spPr>
        <p:txBody>
          <a:bodyPr anchor="b"/>
          <a:lstStyle>
            <a:lvl1pPr algn="ctr">
              <a:defRPr sz="1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3300" y="22572771"/>
            <a:ext cx="21259800" cy="10376109"/>
          </a:xfrm>
        </p:spPr>
        <p:txBody>
          <a:bodyPr/>
          <a:lstStyle>
            <a:lvl1pPr marL="0" indent="0" algn="ctr">
              <a:buNone/>
              <a:defRPr sz="7440"/>
            </a:lvl1pPr>
            <a:lvl2pPr marL="1417320" indent="0" algn="ctr">
              <a:buNone/>
              <a:defRPr sz="6200"/>
            </a:lvl2pPr>
            <a:lvl3pPr marL="2834640" indent="0" algn="ctr">
              <a:buNone/>
              <a:defRPr sz="5580"/>
            </a:lvl3pPr>
            <a:lvl4pPr marL="4251960" indent="0" algn="ctr">
              <a:buNone/>
              <a:defRPr sz="4960"/>
            </a:lvl4pPr>
            <a:lvl5pPr marL="5669280" indent="0" algn="ctr">
              <a:buNone/>
              <a:defRPr sz="4960"/>
            </a:lvl5pPr>
            <a:lvl6pPr marL="7086600" indent="0" algn="ctr">
              <a:buNone/>
              <a:defRPr sz="4960"/>
            </a:lvl6pPr>
            <a:lvl7pPr marL="8503920" indent="0" algn="ctr">
              <a:buNone/>
              <a:defRPr sz="4960"/>
            </a:lvl7pPr>
            <a:lvl8pPr marL="9921240" indent="0" algn="ctr">
              <a:buNone/>
              <a:defRPr sz="4960"/>
            </a:lvl8pPr>
            <a:lvl9pPr marL="11338560" indent="0" algn="ctr">
              <a:buNone/>
              <a:defRPr sz="4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2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053" y="10714367"/>
            <a:ext cx="24448770" cy="17877152"/>
          </a:xfrm>
        </p:spPr>
        <p:txBody>
          <a:bodyPr anchor="b"/>
          <a:lstStyle>
            <a:lvl1pPr>
              <a:defRPr sz="1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4053" y="28760644"/>
            <a:ext cx="24448770" cy="9401172"/>
          </a:xfrm>
        </p:spPr>
        <p:txBody>
          <a:bodyPr/>
          <a:lstStyle>
            <a:lvl1pPr marL="0" indent="0">
              <a:buNone/>
              <a:defRPr sz="7440">
                <a:solidFill>
                  <a:schemeClr val="tx1"/>
                </a:solidFill>
              </a:defRPr>
            </a:lvl1pPr>
            <a:lvl2pPr marL="1417320" indent="0">
              <a:buNone/>
              <a:defRPr sz="6200">
                <a:solidFill>
                  <a:schemeClr val="tx1">
                    <a:tint val="75000"/>
                  </a:schemeClr>
                </a:solidFill>
              </a:defRPr>
            </a:lvl2pPr>
            <a:lvl3pPr marL="2834640" indent="0">
              <a:buNone/>
              <a:defRPr sz="5580">
                <a:solidFill>
                  <a:schemeClr val="tx1">
                    <a:tint val="75000"/>
                  </a:schemeClr>
                </a:solidFill>
              </a:defRPr>
            </a:lvl3pPr>
            <a:lvl4pPr marL="4251960" indent="0">
              <a:buNone/>
              <a:defRPr sz="4960">
                <a:solidFill>
                  <a:schemeClr val="tx1">
                    <a:tint val="75000"/>
                  </a:schemeClr>
                </a:solidFill>
              </a:defRPr>
            </a:lvl4pPr>
            <a:lvl5pPr marL="5669280" indent="0">
              <a:buNone/>
              <a:defRPr sz="4960">
                <a:solidFill>
                  <a:schemeClr val="tx1">
                    <a:tint val="75000"/>
                  </a:schemeClr>
                </a:solidFill>
              </a:defRPr>
            </a:lvl5pPr>
            <a:lvl6pPr marL="7086600" indent="0">
              <a:buNone/>
              <a:defRPr sz="4960">
                <a:solidFill>
                  <a:schemeClr val="tx1">
                    <a:tint val="75000"/>
                  </a:schemeClr>
                </a:solidFill>
              </a:defRPr>
            </a:lvl6pPr>
            <a:lvl7pPr marL="8503920" indent="0">
              <a:buNone/>
              <a:defRPr sz="4960">
                <a:solidFill>
                  <a:schemeClr val="tx1">
                    <a:tint val="75000"/>
                  </a:schemeClr>
                </a:solidFill>
              </a:defRPr>
            </a:lvl7pPr>
            <a:lvl8pPr marL="9921240" indent="0">
              <a:buNone/>
              <a:defRPr sz="4960">
                <a:solidFill>
                  <a:schemeClr val="tx1">
                    <a:tint val="75000"/>
                  </a:schemeClr>
                </a:solidFill>
              </a:defRPr>
            </a:lvl8pPr>
            <a:lvl9pPr marL="11338560" indent="0">
              <a:buNone/>
              <a:defRPr sz="4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2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8815" y="11440583"/>
            <a:ext cx="12047220" cy="27268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50365" y="11440583"/>
            <a:ext cx="12047220" cy="27268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3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07" y="2288126"/>
            <a:ext cx="24448770" cy="83068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2510" y="10535288"/>
            <a:ext cx="11991854" cy="5163182"/>
          </a:xfrm>
        </p:spPr>
        <p:txBody>
          <a:bodyPr anchor="b"/>
          <a:lstStyle>
            <a:lvl1pPr marL="0" indent="0">
              <a:buNone/>
              <a:defRPr sz="7440" b="1"/>
            </a:lvl1pPr>
            <a:lvl2pPr marL="1417320" indent="0">
              <a:buNone/>
              <a:defRPr sz="6200" b="1"/>
            </a:lvl2pPr>
            <a:lvl3pPr marL="2834640" indent="0">
              <a:buNone/>
              <a:defRPr sz="5580" b="1"/>
            </a:lvl3pPr>
            <a:lvl4pPr marL="4251960" indent="0">
              <a:buNone/>
              <a:defRPr sz="4960" b="1"/>
            </a:lvl4pPr>
            <a:lvl5pPr marL="5669280" indent="0">
              <a:buNone/>
              <a:defRPr sz="4960" b="1"/>
            </a:lvl5pPr>
            <a:lvl6pPr marL="7086600" indent="0">
              <a:buNone/>
              <a:defRPr sz="4960" b="1"/>
            </a:lvl6pPr>
            <a:lvl7pPr marL="8503920" indent="0">
              <a:buNone/>
              <a:defRPr sz="4960" b="1"/>
            </a:lvl7pPr>
            <a:lvl8pPr marL="9921240" indent="0">
              <a:buNone/>
              <a:defRPr sz="4960" b="1"/>
            </a:lvl8pPr>
            <a:lvl9pPr marL="11338560" indent="0">
              <a:buNone/>
              <a:defRPr sz="4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2510" y="15698470"/>
            <a:ext cx="11991854" cy="23090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350367" y="10535288"/>
            <a:ext cx="12050912" cy="5163182"/>
          </a:xfrm>
        </p:spPr>
        <p:txBody>
          <a:bodyPr anchor="b"/>
          <a:lstStyle>
            <a:lvl1pPr marL="0" indent="0">
              <a:buNone/>
              <a:defRPr sz="7440" b="1"/>
            </a:lvl1pPr>
            <a:lvl2pPr marL="1417320" indent="0">
              <a:buNone/>
              <a:defRPr sz="6200" b="1"/>
            </a:lvl2pPr>
            <a:lvl3pPr marL="2834640" indent="0">
              <a:buNone/>
              <a:defRPr sz="5580" b="1"/>
            </a:lvl3pPr>
            <a:lvl4pPr marL="4251960" indent="0">
              <a:buNone/>
              <a:defRPr sz="4960" b="1"/>
            </a:lvl4pPr>
            <a:lvl5pPr marL="5669280" indent="0">
              <a:buNone/>
              <a:defRPr sz="4960" b="1"/>
            </a:lvl5pPr>
            <a:lvl6pPr marL="7086600" indent="0">
              <a:buNone/>
              <a:defRPr sz="4960" b="1"/>
            </a:lvl6pPr>
            <a:lvl7pPr marL="8503920" indent="0">
              <a:buNone/>
              <a:defRPr sz="4960" b="1"/>
            </a:lvl7pPr>
            <a:lvl8pPr marL="9921240" indent="0">
              <a:buNone/>
              <a:defRPr sz="4960" b="1"/>
            </a:lvl8pPr>
            <a:lvl9pPr marL="11338560" indent="0">
              <a:buNone/>
              <a:defRPr sz="4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350367" y="15698470"/>
            <a:ext cx="12050912" cy="230900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57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4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07" y="2865120"/>
            <a:ext cx="9142452" cy="10027920"/>
          </a:xfrm>
        </p:spPr>
        <p:txBody>
          <a:bodyPr anchor="b"/>
          <a:lstStyle>
            <a:lvl1pPr>
              <a:defRPr sz="9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50912" y="6187873"/>
            <a:ext cx="14350365" cy="30541383"/>
          </a:xfrm>
        </p:spPr>
        <p:txBody>
          <a:bodyPr/>
          <a:lstStyle>
            <a:lvl1pPr>
              <a:defRPr sz="9920"/>
            </a:lvl1pPr>
            <a:lvl2pPr>
              <a:defRPr sz="8680"/>
            </a:lvl2pPr>
            <a:lvl3pPr>
              <a:defRPr sz="7440"/>
            </a:lvl3pPr>
            <a:lvl4pPr>
              <a:defRPr sz="6200"/>
            </a:lvl4pPr>
            <a:lvl5pPr>
              <a:defRPr sz="6200"/>
            </a:lvl5pPr>
            <a:lvl6pPr>
              <a:defRPr sz="6200"/>
            </a:lvl6pPr>
            <a:lvl7pPr>
              <a:defRPr sz="6200"/>
            </a:lvl7pPr>
            <a:lvl8pPr>
              <a:defRPr sz="6200"/>
            </a:lvl8pPr>
            <a:lvl9pPr>
              <a:defRPr sz="6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52507" y="12893040"/>
            <a:ext cx="9142452" cy="23885951"/>
          </a:xfrm>
        </p:spPr>
        <p:txBody>
          <a:bodyPr/>
          <a:lstStyle>
            <a:lvl1pPr marL="0" indent="0">
              <a:buNone/>
              <a:defRPr sz="4960"/>
            </a:lvl1pPr>
            <a:lvl2pPr marL="1417320" indent="0">
              <a:buNone/>
              <a:defRPr sz="4340"/>
            </a:lvl2pPr>
            <a:lvl3pPr marL="2834640" indent="0">
              <a:buNone/>
              <a:defRPr sz="3720"/>
            </a:lvl3pPr>
            <a:lvl4pPr marL="4251960" indent="0">
              <a:buNone/>
              <a:defRPr sz="3100"/>
            </a:lvl4pPr>
            <a:lvl5pPr marL="5669280" indent="0">
              <a:buNone/>
              <a:defRPr sz="3100"/>
            </a:lvl5pPr>
            <a:lvl6pPr marL="7086600" indent="0">
              <a:buNone/>
              <a:defRPr sz="3100"/>
            </a:lvl6pPr>
            <a:lvl7pPr marL="8503920" indent="0">
              <a:buNone/>
              <a:defRPr sz="3100"/>
            </a:lvl7pPr>
            <a:lvl8pPr marL="9921240" indent="0">
              <a:buNone/>
              <a:defRPr sz="3100"/>
            </a:lvl8pPr>
            <a:lvl9pPr marL="11338560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507" y="2865120"/>
            <a:ext cx="9142452" cy="10027920"/>
          </a:xfrm>
        </p:spPr>
        <p:txBody>
          <a:bodyPr anchor="b"/>
          <a:lstStyle>
            <a:lvl1pPr>
              <a:defRPr sz="9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50912" y="6187873"/>
            <a:ext cx="14350365" cy="30541383"/>
          </a:xfrm>
        </p:spPr>
        <p:txBody>
          <a:bodyPr anchor="t"/>
          <a:lstStyle>
            <a:lvl1pPr marL="0" indent="0">
              <a:buNone/>
              <a:defRPr sz="9920"/>
            </a:lvl1pPr>
            <a:lvl2pPr marL="1417320" indent="0">
              <a:buNone/>
              <a:defRPr sz="8680"/>
            </a:lvl2pPr>
            <a:lvl3pPr marL="2834640" indent="0">
              <a:buNone/>
              <a:defRPr sz="7440"/>
            </a:lvl3pPr>
            <a:lvl4pPr marL="4251960" indent="0">
              <a:buNone/>
              <a:defRPr sz="6200"/>
            </a:lvl4pPr>
            <a:lvl5pPr marL="5669280" indent="0">
              <a:buNone/>
              <a:defRPr sz="6200"/>
            </a:lvl5pPr>
            <a:lvl6pPr marL="7086600" indent="0">
              <a:buNone/>
              <a:defRPr sz="6200"/>
            </a:lvl6pPr>
            <a:lvl7pPr marL="8503920" indent="0">
              <a:buNone/>
              <a:defRPr sz="6200"/>
            </a:lvl7pPr>
            <a:lvl8pPr marL="9921240" indent="0">
              <a:buNone/>
              <a:defRPr sz="6200"/>
            </a:lvl8pPr>
            <a:lvl9pPr marL="11338560" indent="0">
              <a:buNone/>
              <a:defRPr sz="6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52507" y="12893040"/>
            <a:ext cx="9142452" cy="23885951"/>
          </a:xfrm>
        </p:spPr>
        <p:txBody>
          <a:bodyPr/>
          <a:lstStyle>
            <a:lvl1pPr marL="0" indent="0">
              <a:buNone/>
              <a:defRPr sz="4960"/>
            </a:lvl1pPr>
            <a:lvl2pPr marL="1417320" indent="0">
              <a:buNone/>
              <a:defRPr sz="4340"/>
            </a:lvl2pPr>
            <a:lvl3pPr marL="2834640" indent="0">
              <a:buNone/>
              <a:defRPr sz="3720"/>
            </a:lvl3pPr>
            <a:lvl4pPr marL="4251960" indent="0">
              <a:buNone/>
              <a:defRPr sz="3100"/>
            </a:lvl4pPr>
            <a:lvl5pPr marL="5669280" indent="0">
              <a:buNone/>
              <a:defRPr sz="3100"/>
            </a:lvl5pPr>
            <a:lvl6pPr marL="7086600" indent="0">
              <a:buNone/>
              <a:defRPr sz="3100"/>
            </a:lvl6pPr>
            <a:lvl7pPr marL="8503920" indent="0">
              <a:buNone/>
              <a:defRPr sz="3100"/>
            </a:lvl7pPr>
            <a:lvl8pPr marL="9921240" indent="0">
              <a:buNone/>
              <a:defRPr sz="3100"/>
            </a:lvl8pPr>
            <a:lvl9pPr marL="11338560" indent="0">
              <a:buNone/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72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59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285394" y="2288117"/>
            <a:ext cx="6112193" cy="36420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8816" y="2288117"/>
            <a:ext cx="17982248" cy="36420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8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8815" y="2288126"/>
            <a:ext cx="24448770" cy="830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8815" y="11440583"/>
            <a:ext cx="24448770" cy="27268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48815" y="39833136"/>
            <a:ext cx="637794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59D89-9389-4AEA-83E1-61ED3934F07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89745" y="39833136"/>
            <a:ext cx="956691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019645" y="39833136"/>
            <a:ext cx="637794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78818-D0FB-41BB-8E3E-09BD64CE2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62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2834640" rtl="0" eaLnBrk="1" latinLnBrk="0" hangingPunct="1">
        <a:lnSpc>
          <a:spcPct val="90000"/>
        </a:lnSpc>
        <a:spcBef>
          <a:spcPct val="0"/>
        </a:spcBef>
        <a:buNone/>
        <a:defRPr sz="1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8660" indent="-708660" algn="l" defTabSz="2834640" rtl="0" eaLnBrk="1" latinLnBrk="0" hangingPunct="1">
        <a:lnSpc>
          <a:spcPct val="90000"/>
        </a:lnSpc>
        <a:spcBef>
          <a:spcPts val="3100"/>
        </a:spcBef>
        <a:buFont typeface="Arial" panose="020B0604020202020204" pitchFamily="34" charset="0"/>
        <a:buChar char="•"/>
        <a:defRPr sz="8680" kern="1200">
          <a:solidFill>
            <a:schemeClr val="tx1"/>
          </a:solidFill>
          <a:latin typeface="+mn-lt"/>
          <a:ea typeface="+mn-ea"/>
          <a:cs typeface="+mn-cs"/>
        </a:defRPr>
      </a:lvl1pPr>
      <a:lvl2pPr marL="2125980" indent="-708660" algn="l" defTabSz="2834640" rtl="0" eaLnBrk="1" latinLnBrk="0" hangingPunct="1">
        <a:lnSpc>
          <a:spcPct val="90000"/>
        </a:lnSpc>
        <a:spcBef>
          <a:spcPts val="1550"/>
        </a:spcBef>
        <a:buFont typeface="Arial" panose="020B0604020202020204" pitchFamily="34" charset="0"/>
        <a:buChar char="•"/>
        <a:defRPr sz="7440" kern="1200">
          <a:solidFill>
            <a:schemeClr val="tx1"/>
          </a:solidFill>
          <a:latin typeface="+mn-lt"/>
          <a:ea typeface="+mn-ea"/>
          <a:cs typeface="+mn-cs"/>
        </a:defRPr>
      </a:lvl2pPr>
      <a:lvl3pPr marL="3543300" indent="-708660" algn="l" defTabSz="2834640" rtl="0" eaLnBrk="1" latinLnBrk="0" hangingPunct="1">
        <a:lnSpc>
          <a:spcPct val="90000"/>
        </a:lnSpc>
        <a:spcBef>
          <a:spcPts val="1550"/>
        </a:spcBef>
        <a:buFont typeface="Arial" panose="020B0604020202020204" pitchFamily="34" charset="0"/>
        <a:buChar char="•"/>
        <a:defRPr sz="6200" kern="1200">
          <a:solidFill>
            <a:schemeClr val="tx1"/>
          </a:solidFill>
          <a:latin typeface="+mn-lt"/>
          <a:ea typeface="+mn-ea"/>
          <a:cs typeface="+mn-cs"/>
        </a:defRPr>
      </a:lvl3pPr>
      <a:lvl4pPr marL="4960620" indent="-708660" algn="l" defTabSz="2834640" rtl="0" eaLnBrk="1" latinLnBrk="0" hangingPunct="1">
        <a:lnSpc>
          <a:spcPct val="90000"/>
        </a:lnSpc>
        <a:spcBef>
          <a:spcPts val="1550"/>
        </a:spcBef>
        <a:buFont typeface="Arial" panose="020B0604020202020204" pitchFamily="34" charset="0"/>
        <a:buChar char="•"/>
        <a:defRPr sz="5580" kern="1200">
          <a:solidFill>
            <a:schemeClr val="tx1"/>
          </a:solidFill>
          <a:latin typeface="+mn-lt"/>
          <a:ea typeface="+mn-ea"/>
          <a:cs typeface="+mn-cs"/>
        </a:defRPr>
      </a:lvl4pPr>
      <a:lvl5pPr marL="6377940" indent="-708660" algn="l" defTabSz="2834640" rtl="0" eaLnBrk="1" latinLnBrk="0" hangingPunct="1">
        <a:lnSpc>
          <a:spcPct val="90000"/>
        </a:lnSpc>
        <a:spcBef>
          <a:spcPts val="1550"/>
        </a:spcBef>
        <a:buFont typeface="Arial" panose="020B0604020202020204" pitchFamily="34" charset="0"/>
        <a:buChar char="•"/>
        <a:defRPr sz="5580" kern="1200">
          <a:solidFill>
            <a:schemeClr val="tx1"/>
          </a:solidFill>
          <a:latin typeface="+mn-lt"/>
          <a:ea typeface="+mn-ea"/>
          <a:cs typeface="+mn-cs"/>
        </a:defRPr>
      </a:lvl5pPr>
      <a:lvl6pPr marL="7795260" indent="-708660" algn="l" defTabSz="2834640" rtl="0" eaLnBrk="1" latinLnBrk="0" hangingPunct="1">
        <a:lnSpc>
          <a:spcPct val="90000"/>
        </a:lnSpc>
        <a:spcBef>
          <a:spcPts val="1550"/>
        </a:spcBef>
        <a:buFont typeface="Arial" panose="020B0604020202020204" pitchFamily="34" charset="0"/>
        <a:buChar char="•"/>
        <a:defRPr sz="5580" kern="1200">
          <a:solidFill>
            <a:schemeClr val="tx1"/>
          </a:solidFill>
          <a:latin typeface="+mn-lt"/>
          <a:ea typeface="+mn-ea"/>
          <a:cs typeface="+mn-cs"/>
        </a:defRPr>
      </a:lvl6pPr>
      <a:lvl7pPr marL="9212580" indent="-708660" algn="l" defTabSz="2834640" rtl="0" eaLnBrk="1" latinLnBrk="0" hangingPunct="1">
        <a:lnSpc>
          <a:spcPct val="90000"/>
        </a:lnSpc>
        <a:spcBef>
          <a:spcPts val="1550"/>
        </a:spcBef>
        <a:buFont typeface="Arial" panose="020B0604020202020204" pitchFamily="34" charset="0"/>
        <a:buChar char="•"/>
        <a:defRPr sz="5580" kern="1200">
          <a:solidFill>
            <a:schemeClr val="tx1"/>
          </a:solidFill>
          <a:latin typeface="+mn-lt"/>
          <a:ea typeface="+mn-ea"/>
          <a:cs typeface="+mn-cs"/>
        </a:defRPr>
      </a:lvl7pPr>
      <a:lvl8pPr marL="10629900" indent="-708660" algn="l" defTabSz="2834640" rtl="0" eaLnBrk="1" latinLnBrk="0" hangingPunct="1">
        <a:lnSpc>
          <a:spcPct val="90000"/>
        </a:lnSpc>
        <a:spcBef>
          <a:spcPts val="1550"/>
        </a:spcBef>
        <a:buFont typeface="Arial" panose="020B0604020202020204" pitchFamily="34" charset="0"/>
        <a:buChar char="•"/>
        <a:defRPr sz="5580" kern="1200">
          <a:solidFill>
            <a:schemeClr val="tx1"/>
          </a:solidFill>
          <a:latin typeface="+mn-lt"/>
          <a:ea typeface="+mn-ea"/>
          <a:cs typeface="+mn-cs"/>
        </a:defRPr>
      </a:lvl8pPr>
      <a:lvl9pPr marL="12047220" indent="-708660" algn="l" defTabSz="2834640" rtl="0" eaLnBrk="1" latinLnBrk="0" hangingPunct="1">
        <a:lnSpc>
          <a:spcPct val="90000"/>
        </a:lnSpc>
        <a:spcBef>
          <a:spcPts val="1550"/>
        </a:spcBef>
        <a:buFont typeface="Arial" panose="020B0604020202020204" pitchFamily="34" charset="0"/>
        <a:buChar char="•"/>
        <a:defRPr sz="55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1pPr>
      <a:lvl2pPr marL="141732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2pPr>
      <a:lvl3pPr marL="283464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3pPr>
      <a:lvl4pPr marL="425196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4pPr>
      <a:lvl5pPr marL="566928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5pPr>
      <a:lvl6pPr marL="708660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6pPr>
      <a:lvl7pPr marL="850392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7pPr>
      <a:lvl8pPr marL="992124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8pPr>
      <a:lvl9pPr marL="11338560" algn="l" defTabSz="2834640" rtl="0" eaLnBrk="1" latinLnBrk="0" hangingPunct="1">
        <a:defRPr sz="55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tiff"/><Relationship Id="rId4" Type="http://schemas.openxmlformats.org/officeDocument/2006/relationships/image" Target="../media/image3.png"/><Relationship Id="rId9" Type="http://schemas.openxmlformats.org/officeDocument/2006/relationships/image" Target="../media/image8.jp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367F9BA-595C-D7B1-4CBF-3EFE88A65A21}"/>
              </a:ext>
            </a:extLst>
          </p:cNvPr>
          <p:cNvSpPr txBox="1"/>
          <p:nvPr/>
        </p:nvSpPr>
        <p:spPr>
          <a:xfrm>
            <a:off x="5151235" y="228084"/>
            <a:ext cx="18721138" cy="16489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b="1" dirty="0">
                <a:latin typeface="Roboto" panose="02000000000000000000" pitchFamily="2" charset="0"/>
              </a:rPr>
              <a:t>V</a:t>
            </a:r>
            <a:r>
              <a:rPr lang="el-GR" sz="4800" b="1" dirty="0">
                <a:latin typeface="Roboto" panose="02000000000000000000" pitchFamily="2" charset="0"/>
              </a:rPr>
              <a:t>γ9</a:t>
            </a:r>
            <a:r>
              <a:rPr lang="en-US" sz="4800" b="1" dirty="0">
                <a:latin typeface="Roboto" panose="02000000000000000000" pitchFamily="2" charset="0"/>
              </a:rPr>
              <a:t>V</a:t>
            </a:r>
            <a:r>
              <a:rPr lang="el-GR" sz="4800" b="1" dirty="0">
                <a:latin typeface="Roboto" panose="02000000000000000000" pitchFamily="2" charset="0"/>
              </a:rPr>
              <a:t>δ2 </a:t>
            </a:r>
            <a:r>
              <a:rPr lang="en-US" sz="4800" b="1" dirty="0">
                <a:latin typeface="Roboto" panose="02000000000000000000" pitchFamily="2" charset="0"/>
              </a:rPr>
              <a:t>T cell responses in HIV-exposed Uninfected (HEU) Infants</a:t>
            </a:r>
            <a:endParaRPr lang="en-US" sz="48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/>
            <a:endParaRPr lang="en-US" sz="5315" b="1" dirty="0">
              <a:latin typeface="Roboto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2C981A-82DD-12DD-F591-E3FF6B8DC148}"/>
              </a:ext>
            </a:extLst>
          </p:cNvPr>
          <p:cNvSpPr txBox="1"/>
          <p:nvPr/>
        </p:nvSpPr>
        <p:spPr>
          <a:xfrm>
            <a:off x="4114800" y="1094089"/>
            <a:ext cx="20214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David Rach</a:t>
            </a:r>
            <a:r>
              <a:rPr lang="en-US" sz="2800" b="1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Hao-Ting Hsu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Nginache Nampota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Godfrey Mvula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Felix A. Mkandawire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Osward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M. Nyirenda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</a:p>
          <a:p>
            <a:pPr algn="ctr"/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Bernadette Hritzo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Ingrid Peterson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Franklin R Toapanta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Marcelo B Sztein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Miriam Laufer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Kirsten E. Lyke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Cristiana Cairo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endParaRPr lang="en-US" sz="2800" baseline="30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6DE3BC-15AC-7AFC-CCC0-361543C92F66}"/>
              </a:ext>
            </a:extLst>
          </p:cNvPr>
          <p:cNvSpPr txBox="1"/>
          <p:nvPr/>
        </p:nvSpPr>
        <p:spPr>
          <a:xfrm>
            <a:off x="0" y="1866874"/>
            <a:ext cx="28346399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32"/>
              </a:spcAft>
            </a:pPr>
            <a:endParaRPr lang="en-US" sz="2400" baseline="30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spcAft>
                <a:spcPts val="332"/>
              </a:spcAft>
            </a:pPr>
            <a:r>
              <a:rPr lang="en-US" sz="24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Molecular Microbiology and Immunology Graduate Program, University of Maryland School of Medicine, Baltimore, USA. </a:t>
            </a:r>
            <a:r>
              <a:rPr lang="en-US" sz="24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Institute of Human Virology, University of Maryland School of Medicine, Baltimore, USA. </a:t>
            </a:r>
            <a:r>
              <a:rPr lang="en-US" sz="24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Blantyre Malaria Project, Kamuzu University of Health Sciences, Blantyre, Malawi. </a:t>
            </a:r>
            <a:r>
              <a:rPr lang="en-US" sz="24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Center for Vaccine Development and Global Health, University of Maryland School of Medicine, Baltimore, USA</a:t>
            </a:r>
            <a:endParaRPr lang="en-US" sz="2400" dirty="0"/>
          </a:p>
        </p:txBody>
      </p:sp>
      <p:pic>
        <p:nvPicPr>
          <p:cNvPr id="31" name="Picture 30" descr="A picture containing text, clothing, screenshot, cartoon&#10;&#10;Description automatically generated">
            <a:extLst>
              <a:ext uri="{FF2B5EF4-FFF2-40B4-BE49-F238E27FC236}">
                <a16:creationId xmlns:a16="http://schemas.microsoft.com/office/drawing/2014/main" id="{1A5DBD30-C344-4F70-1205-9D879BB4AB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1"/>
          <a:stretch/>
        </p:blipFill>
        <p:spPr>
          <a:xfrm>
            <a:off x="830268" y="10733888"/>
            <a:ext cx="12587748" cy="9768264"/>
          </a:xfrm>
          <a:prstGeom prst="rect">
            <a:avLst/>
          </a:prstGeom>
        </p:spPr>
      </p:pic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727CB91-42DE-2233-13D0-642AC28370F3}"/>
              </a:ext>
            </a:extLst>
          </p:cNvPr>
          <p:cNvGrpSpPr/>
          <p:nvPr/>
        </p:nvGrpSpPr>
        <p:grpSpPr>
          <a:xfrm>
            <a:off x="229291" y="10029664"/>
            <a:ext cx="13786067" cy="769441"/>
            <a:chOff x="15381514" y="8127463"/>
            <a:chExt cx="10221686" cy="1733280"/>
          </a:xfrm>
        </p:grpSpPr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70965DB6-0BAF-4F5E-E089-C33927175E03}"/>
                </a:ext>
              </a:extLst>
            </p:cNvPr>
            <p:cNvSpPr/>
            <p:nvPr/>
          </p:nvSpPr>
          <p:spPr>
            <a:xfrm>
              <a:off x="15381514" y="8206347"/>
              <a:ext cx="10221686" cy="1430041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96"/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:a16="http://schemas.microsoft.com/office/drawing/2014/main" id="{EB54581B-EA52-9E6F-D79D-FB12B9273678}"/>
                </a:ext>
              </a:extLst>
            </p:cNvPr>
            <p:cNvSpPr txBox="1"/>
            <p:nvPr/>
          </p:nvSpPr>
          <p:spPr>
            <a:xfrm>
              <a:off x="15532449" y="8127463"/>
              <a:ext cx="9682265" cy="1733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STUDY POPULATION: MALAWIAN COHORT</a:t>
              </a: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4E15BB10-4393-F748-2AE8-D6A55FB8919A}"/>
              </a:ext>
            </a:extLst>
          </p:cNvPr>
          <p:cNvGrpSpPr/>
          <p:nvPr/>
        </p:nvGrpSpPr>
        <p:grpSpPr>
          <a:xfrm>
            <a:off x="14421854" y="31740438"/>
            <a:ext cx="13630632" cy="830997"/>
            <a:chOff x="924898" y="7433786"/>
            <a:chExt cx="14315578" cy="1904858"/>
          </a:xfrm>
        </p:grpSpPr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800EC390-3D4C-7459-B933-1EFF7E3860E4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96"/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1033DC1D-FFEE-D6E7-3EAC-569AB4B47A03}"/>
                </a:ext>
              </a:extLst>
            </p:cNvPr>
            <p:cNvSpPr txBox="1"/>
            <p:nvPr/>
          </p:nvSpPr>
          <p:spPr>
            <a:xfrm>
              <a:off x="4305495" y="7433786"/>
              <a:ext cx="7700212" cy="190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</a:rPr>
                <a:t>FUTURE </a:t>
              </a:r>
              <a:r>
                <a:rPr lang="en-US" sz="4400" b="1" dirty="0">
                  <a:solidFill>
                    <a:schemeClr val="bg1"/>
                  </a:solidFill>
                </a:rPr>
                <a:t>DIRECTIONS</a:t>
              </a:r>
              <a:endParaRPr lang="en-US" sz="4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64" name="TextBox 2063">
            <a:extLst>
              <a:ext uri="{FF2B5EF4-FFF2-40B4-BE49-F238E27FC236}">
                <a16:creationId xmlns:a16="http://schemas.microsoft.com/office/drawing/2014/main" id="{BAF39660-9396-DB16-8A32-FF14C5A2E29B}"/>
              </a:ext>
            </a:extLst>
          </p:cNvPr>
          <p:cNvSpPr txBox="1"/>
          <p:nvPr/>
        </p:nvSpPr>
        <p:spPr>
          <a:xfrm>
            <a:off x="228600" y="30371106"/>
            <a:ext cx="136008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1. The frequency and polyfunctionality of V</a:t>
            </a:r>
            <a:r>
              <a:rPr lang="el-G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cells are altered in HEU infants compared to HU controls</a:t>
            </a:r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874BBFAE-519F-5B56-E1AE-6B05DC7BD117}"/>
              </a:ext>
            </a:extLst>
          </p:cNvPr>
          <p:cNvGrpSpPr/>
          <p:nvPr/>
        </p:nvGrpSpPr>
        <p:grpSpPr>
          <a:xfrm>
            <a:off x="12927932" y="39816598"/>
            <a:ext cx="17248272" cy="2685946"/>
            <a:chOff x="13000121" y="35316786"/>
            <a:chExt cx="17248272" cy="2685946"/>
          </a:xfrm>
        </p:grpSpPr>
        <p:grpSp>
          <p:nvGrpSpPr>
            <p:cNvPr id="2059" name="Group 2058">
              <a:extLst>
                <a:ext uri="{FF2B5EF4-FFF2-40B4-BE49-F238E27FC236}">
                  <a16:creationId xmlns:a16="http://schemas.microsoft.com/office/drawing/2014/main" id="{E84D4952-4D4B-D057-CB05-73A49D8EB181}"/>
                </a:ext>
              </a:extLst>
            </p:cNvPr>
            <p:cNvGrpSpPr/>
            <p:nvPr/>
          </p:nvGrpSpPr>
          <p:grpSpPr>
            <a:xfrm>
              <a:off x="14455370" y="37367137"/>
              <a:ext cx="14486018" cy="635595"/>
              <a:chOff x="15495177" y="35967524"/>
              <a:chExt cx="16386755" cy="886320"/>
            </a:xfrm>
          </p:grpSpPr>
          <p:grpSp>
            <p:nvGrpSpPr>
              <p:cNvPr id="2051" name="Group 2050">
                <a:extLst>
                  <a:ext uri="{FF2B5EF4-FFF2-40B4-BE49-F238E27FC236}">
                    <a16:creationId xmlns:a16="http://schemas.microsoft.com/office/drawing/2014/main" id="{E907716C-60E3-B82B-4ED0-5FEF247B7E3F}"/>
                  </a:ext>
                </a:extLst>
              </p:cNvPr>
              <p:cNvGrpSpPr/>
              <p:nvPr/>
            </p:nvGrpSpPr>
            <p:grpSpPr>
              <a:xfrm>
                <a:off x="22288560" y="36082095"/>
                <a:ext cx="4350207" cy="729616"/>
                <a:chOff x="45219527" y="36057069"/>
                <a:chExt cx="4350207" cy="729616"/>
              </a:xfrm>
            </p:grpSpPr>
            <p:pic>
              <p:nvPicPr>
                <p:cNvPr id="9" name="Picture 8" descr="A picture containing cat, mammal, silhouette&#10;&#10;Description automatically generated">
                  <a:extLst>
                    <a:ext uri="{FF2B5EF4-FFF2-40B4-BE49-F238E27FC236}">
                      <a16:creationId xmlns:a16="http://schemas.microsoft.com/office/drawing/2014/main" id="{D3563AE1-3591-ADAD-7D86-18B5C07D6F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219527" y="36101328"/>
                  <a:ext cx="609610" cy="609611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6AAEE5A-9E52-EE5D-0802-0FBC416E0B69}"/>
                    </a:ext>
                  </a:extLst>
                </p:cNvPr>
                <p:cNvSpPr txBox="1"/>
                <p:nvPr/>
              </p:nvSpPr>
              <p:spPr>
                <a:xfrm>
                  <a:off x="45832256" y="36057069"/>
                  <a:ext cx="3737478" cy="7296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davidrach.github.io</a:t>
                  </a:r>
                </a:p>
              </p:txBody>
            </p:sp>
          </p:grpSp>
          <p:grpSp>
            <p:nvGrpSpPr>
              <p:cNvPr id="2053" name="Group 2052">
                <a:extLst>
                  <a:ext uri="{FF2B5EF4-FFF2-40B4-BE49-F238E27FC236}">
                    <a16:creationId xmlns:a16="http://schemas.microsoft.com/office/drawing/2014/main" id="{E69B74C5-4B58-FDF8-22C2-BC4324ED60D9}"/>
                  </a:ext>
                </a:extLst>
              </p:cNvPr>
              <p:cNvGrpSpPr/>
              <p:nvPr/>
            </p:nvGrpSpPr>
            <p:grpSpPr>
              <a:xfrm>
                <a:off x="27685933" y="36109072"/>
                <a:ext cx="4195999" cy="729617"/>
                <a:chOff x="47013948" y="36662746"/>
                <a:chExt cx="4195999" cy="729617"/>
              </a:xfrm>
            </p:grpSpPr>
            <p:pic>
              <p:nvPicPr>
                <p:cNvPr id="17" name="Picture 16" descr="A picture containing black, darkness&#10;&#10;Description automatically generated">
                  <a:extLst>
                    <a:ext uri="{FF2B5EF4-FFF2-40B4-BE49-F238E27FC236}">
                      <a16:creationId xmlns:a16="http://schemas.microsoft.com/office/drawing/2014/main" id="{C786E3F0-7B88-7F9C-17D0-081D7C3E92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013948" y="36776726"/>
                  <a:ext cx="609610" cy="501719"/>
                </a:xfrm>
                <a:prstGeom prst="rect">
                  <a:avLst/>
                </a:prstGeom>
              </p:spPr>
            </p:pic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00821B0-6DD9-1722-5DFA-039318E71FC5}"/>
                    </a:ext>
                  </a:extLst>
                </p:cNvPr>
                <p:cNvSpPr txBox="1"/>
                <p:nvPr/>
              </p:nvSpPr>
              <p:spPr>
                <a:xfrm>
                  <a:off x="47601810" y="36662746"/>
                  <a:ext cx="3608137" cy="729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@DavidRach2</a:t>
                  </a:r>
                </a:p>
              </p:txBody>
            </p:sp>
          </p:grpSp>
          <p:grpSp>
            <p:nvGrpSpPr>
              <p:cNvPr id="2058" name="Group 2057">
                <a:extLst>
                  <a:ext uri="{FF2B5EF4-FFF2-40B4-BE49-F238E27FC236}">
                    <a16:creationId xmlns:a16="http://schemas.microsoft.com/office/drawing/2014/main" id="{9554F56A-4FCD-4625-155C-C61A9244617D}"/>
                  </a:ext>
                </a:extLst>
              </p:cNvPr>
              <p:cNvGrpSpPr/>
              <p:nvPr/>
            </p:nvGrpSpPr>
            <p:grpSpPr>
              <a:xfrm>
                <a:off x="15495177" y="35967524"/>
                <a:ext cx="6867022" cy="886320"/>
                <a:chOff x="24238881" y="36595331"/>
                <a:chExt cx="6867022" cy="886320"/>
              </a:xfrm>
            </p:grpSpPr>
            <p:pic>
              <p:nvPicPr>
                <p:cNvPr id="3078" name="Picture 6" descr="Mail Icon Images – Browse 845,814 Stock Photos, Vectors, and ...">
                  <a:extLst>
                    <a:ext uri="{FF2B5EF4-FFF2-40B4-BE49-F238E27FC236}">
                      <a16:creationId xmlns:a16="http://schemas.microsoft.com/office/drawing/2014/main" id="{3419E5C4-73FC-1472-188F-D4D4788367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3434" t="4390" b="13613"/>
                <a:stretch/>
              </p:blipFill>
              <p:spPr bwMode="auto">
                <a:xfrm>
                  <a:off x="24238881" y="36595331"/>
                  <a:ext cx="988469" cy="88632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57" name="TextBox 2056">
                  <a:extLst>
                    <a:ext uri="{FF2B5EF4-FFF2-40B4-BE49-F238E27FC236}">
                      <a16:creationId xmlns:a16="http://schemas.microsoft.com/office/drawing/2014/main" id="{8A84DC0B-EDEC-2CC7-BB41-891CEA8E062A}"/>
                    </a:ext>
                  </a:extLst>
                </p:cNvPr>
                <p:cNvSpPr txBox="1"/>
                <p:nvPr/>
              </p:nvSpPr>
              <p:spPr>
                <a:xfrm>
                  <a:off x="25125409" y="36695962"/>
                  <a:ext cx="5980494" cy="729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80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drach@som.umaryland.edu</a:t>
                  </a:r>
                </a:p>
              </p:txBody>
            </p:sp>
          </p:grpSp>
        </p:grp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1220AC64-8F56-CC19-C802-E585EC34643C}"/>
                </a:ext>
              </a:extLst>
            </p:cNvPr>
            <p:cNvGrpSpPr/>
            <p:nvPr/>
          </p:nvGrpSpPr>
          <p:grpSpPr>
            <a:xfrm>
              <a:off x="13000121" y="35316786"/>
              <a:ext cx="17248272" cy="2420929"/>
              <a:chOff x="-1240829" y="38218114"/>
              <a:chExt cx="17248272" cy="2420929"/>
            </a:xfrm>
          </p:grpSpPr>
          <p:sp>
            <p:nvSpPr>
              <p:cNvPr id="1039" name="TextBox 1038">
                <a:extLst>
                  <a:ext uri="{FF2B5EF4-FFF2-40B4-BE49-F238E27FC236}">
                    <a16:creationId xmlns:a16="http://schemas.microsoft.com/office/drawing/2014/main" id="{26824AC8-572C-DC89-BA96-93AA16938447}"/>
                  </a:ext>
                </a:extLst>
              </p:cNvPr>
              <p:cNvSpPr txBox="1"/>
              <p:nvPr/>
            </p:nvSpPr>
            <p:spPr>
              <a:xfrm>
                <a:off x="225267" y="39015522"/>
                <a:ext cx="5623083" cy="1623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All Study Participants</a:t>
                </a:r>
              </a:p>
              <a:p>
                <a:r>
                  <a:rPr lang="en-US" sz="28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The Blantyre Malaria Project</a:t>
                </a:r>
                <a:endParaRPr lang="en-US" sz="28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endParaRPr lang="en-US" sz="28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endParaRPr lang="en-US" sz="1550" b="1" dirty="0"/>
              </a:p>
            </p:txBody>
          </p:sp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B1193AF1-94E0-32B6-A2B5-79F58485EDA1}"/>
                  </a:ext>
                </a:extLst>
              </p:cNvPr>
              <p:cNvGrpSpPr/>
              <p:nvPr/>
            </p:nvGrpSpPr>
            <p:grpSpPr>
              <a:xfrm>
                <a:off x="-1240829" y="38218114"/>
                <a:ext cx="17248272" cy="967316"/>
                <a:chOff x="21677775" y="7790080"/>
                <a:chExt cx="4793866" cy="2001516"/>
              </a:xfrm>
            </p:grpSpPr>
            <p:sp>
              <p:nvSpPr>
                <p:cNvPr id="1041" name="Rectangle 1040">
                  <a:extLst>
                    <a:ext uri="{FF2B5EF4-FFF2-40B4-BE49-F238E27FC236}">
                      <a16:creationId xmlns:a16="http://schemas.microsoft.com/office/drawing/2014/main" id="{8F286099-1BBF-A25C-879C-6E7DD8561338}"/>
                    </a:ext>
                  </a:extLst>
                </p:cNvPr>
                <p:cNvSpPr/>
                <p:nvPr/>
              </p:nvSpPr>
              <p:spPr>
                <a:xfrm>
                  <a:off x="22081402" y="8033221"/>
                  <a:ext cx="3806239" cy="1330627"/>
                </a:xfrm>
                <a:prstGeom prst="rect">
                  <a:avLst/>
                </a:prstGeom>
                <a:solidFill>
                  <a:srgbClr val="800000"/>
                </a:solidFill>
                <a:ln>
                  <a:solidFill>
                    <a:srgbClr val="8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96"/>
                </a:p>
              </p:txBody>
            </p:sp>
            <p:sp>
              <p:nvSpPr>
                <p:cNvPr id="1042" name="TextBox 1041">
                  <a:extLst>
                    <a:ext uri="{FF2B5EF4-FFF2-40B4-BE49-F238E27FC236}">
                      <a16:creationId xmlns:a16="http://schemas.microsoft.com/office/drawing/2014/main" id="{AC8172CB-842F-A073-7F8F-B000279D0878}"/>
                    </a:ext>
                  </a:extLst>
                </p:cNvPr>
                <p:cNvSpPr txBox="1"/>
                <p:nvPr/>
              </p:nvSpPr>
              <p:spPr>
                <a:xfrm>
                  <a:off x="21677775" y="7790080"/>
                  <a:ext cx="4793866" cy="20015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4800" b="1" dirty="0">
                      <a:solidFill>
                        <a:schemeClr val="bg1"/>
                      </a:solidFill>
                    </a:rPr>
                    <a:t>ACKNOWLEDGEMENTS</a:t>
                  </a:r>
                </a:p>
                <a:p>
                  <a:pPr algn="ctr"/>
                  <a:endParaRPr lang="en-US" sz="886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91969DF1-2E92-3447-8C32-114B95D5F10C}"/>
                  </a:ext>
                </a:extLst>
              </p:cNvPr>
              <p:cNvSpPr txBox="1"/>
              <p:nvPr/>
            </p:nvSpPr>
            <p:spPr>
              <a:xfrm>
                <a:off x="10093779" y="39007370"/>
                <a:ext cx="3812722" cy="16235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8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U01 HD092308</a:t>
                </a:r>
              </a:p>
              <a:p>
                <a:pPr algn="r"/>
                <a:r>
                  <a:rPr lang="en-US" sz="28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R61 HD103066-01 </a:t>
                </a:r>
              </a:p>
              <a:p>
                <a:pPr algn="r"/>
                <a:r>
                  <a:rPr lang="en-US" sz="28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P30CA134274</a:t>
                </a:r>
              </a:p>
              <a:p>
                <a:pPr algn="r"/>
                <a:endParaRPr lang="en-US" sz="1550" b="1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CA5F8F0-39EC-D637-1D19-6B014F28D498}"/>
                  </a:ext>
                </a:extLst>
              </p:cNvPr>
              <p:cNvSpPr txBox="1"/>
              <p:nvPr/>
            </p:nvSpPr>
            <p:spPr>
              <a:xfrm>
                <a:off x="4830288" y="39015315"/>
                <a:ext cx="5981948" cy="1465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UMGCCC Flow Cytometry Core</a:t>
                </a:r>
              </a:p>
              <a:p>
                <a:pPr algn="ctr"/>
                <a:r>
                  <a:rPr lang="en-US" sz="280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NIH Tetramer Core</a:t>
                </a:r>
              </a:p>
              <a:p>
                <a:pPr algn="just"/>
                <a:endParaRPr lang="en-US" sz="1772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 algn="just"/>
                <a:endParaRPr lang="en-US" sz="1550" b="1" dirty="0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3B7E988-A181-5DA1-E61F-F8FF50B6BA42}"/>
              </a:ext>
            </a:extLst>
          </p:cNvPr>
          <p:cNvGrpSpPr/>
          <p:nvPr/>
        </p:nvGrpSpPr>
        <p:grpSpPr>
          <a:xfrm>
            <a:off x="0" y="29432089"/>
            <a:ext cx="13944600" cy="769441"/>
            <a:chOff x="704168" y="7435157"/>
            <a:chExt cx="14576134" cy="173418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35589A0-3C7F-6FDC-3D54-FF09BAE96D5D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96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76470CB-6BF6-F25B-2C81-4392A1C3FD96}"/>
                </a:ext>
              </a:extLst>
            </p:cNvPr>
            <p:cNvSpPr txBox="1"/>
            <p:nvPr/>
          </p:nvSpPr>
          <p:spPr>
            <a:xfrm>
              <a:off x="704168" y="7435157"/>
              <a:ext cx="14576134" cy="1734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RESULTS: FLOW CYTOMETRY – EX VIVO</a:t>
              </a:r>
            </a:p>
          </p:txBody>
        </p:sp>
      </p:grpSp>
      <p:pic>
        <p:nvPicPr>
          <p:cNvPr id="49" name="Picture 48" descr="A black and blue text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BB3A2B2F-224B-B06B-E1B9-3E7033717C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4257" y="318165"/>
            <a:ext cx="3806664" cy="143130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B6DED32C-98BC-2F58-694E-C568F65C9AB7}"/>
              </a:ext>
            </a:extLst>
          </p:cNvPr>
          <p:cNvSpPr/>
          <p:nvPr/>
        </p:nvSpPr>
        <p:spPr>
          <a:xfrm>
            <a:off x="0" y="3108231"/>
            <a:ext cx="28346399" cy="202474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96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345CCDB-40F8-B620-C4E2-C795F06582A9}"/>
              </a:ext>
            </a:extLst>
          </p:cNvPr>
          <p:cNvGrpSpPr/>
          <p:nvPr/>
        </p:nvGrpSpPr>
        <p:grpSpPr>
          <a:xfrm>
            <a:off x="164432" y="3374383"/>
            <a:ext cx="13856368" cy="769441"/>
            <a:chOff x="593288" y="7427380"/>
            <a:chExt cx="15767166" cy="172884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C0A4867-7A18-0CEA-2E12-61FCCB568649}"/>
                </a:ext>
              </a:extLst>
            </p:cNvPr>
            <p:cNvSpPr/>
            <p:nvPr/>
          </p:nvSpPr>
          <p:spPr>
            <a:xfrm>
              <a:off x="593288" y="7564152"/>
              <a:ext cx="15767166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96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8608F2-1CBA-C4AB-8899-FCF51EBDC1F3}"/>
                </a:ext>
              </a:extLst>
            </p:cNvPr>
            <p:cNvSpPr txBox="1"/>
            <p:nvPr/>
          </p:nvSpPr>
          <p:spPr>
            <a:xfrm>
              <a:off x="3812739" y="7427380"/>
              <a:ext cx="9657873" cy="1728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INTRODUCTION</a:t>
              </a:r>
              <a:endParaRPr lang="en-US" sz="1050" b="1" dirty="0">
                <a:solidFill>
                  <a:schemeClr val="bg1"/>
                </a:solidFill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679A7F3-2B4F-9EF0-605B-B74ACE6977FB}"/>
              </a:ext>
            </a:extLst>
          </p:cNvPr>
          <p:cNvGrpSpPr/>
          <p:nvPr/>
        </p:nvGrpSpPr>
        <p:grpSpPr>
          <a:xfrm>
            <a:off x="298211" y="20562551"/>
            <a:ext cx="13651831" cy="769441"/>
            <a:chOff x="924898" y="7456174"/>
            <a:chExt cx="14315578" cy="173636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F54564C-3F82-A506-53C1-C95F9C2A83C2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96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A32BCDA-BDFA-B9D9-40C1-6227959D4E66}"/>
                </a:ext>
              </a:extLst>
            </p:cNvPr>
            <p:cNvSpPr txBox="1"/>
            <p:nvPr/>
          </p:nvSpPr>
          <p:spPr>
            <a:xfrm>
              <a:off x="4369560" y="7456174"/>
              <a:ext cx="7700211" cy="1736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METHODS</a:t>
              </a:r>
              <a:endParaRPr lang="en-US" sz="1050" b="1" dirty="0">
                <a:solidFill>
                  <a:schemeClr val="bg1"/>
                </a:solidFill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pic>
        <p:nvPicPr>
          <p:cNvPr id="60" name="Picture 59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55709889-5D8C-550A-3254-E033DEBD97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5" y="406614"/>
            <a:ext cx="4668332" cy="1226244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706B6E6-2AC7-5ED4-9038-4849B438C869}"/>
              </a:ext>
            </a:extLst>
          </p:cNvPr>
          <p:cNvGrpSpPr/>
          <p:nvPr/>
        </p:nvGrpSpPr>
        <p:grpSpPr>
          <a:xfrm>
            <a:off x="14538874" y="3397658"/>
            <a:ext cx="13546269" cy="815113"/>
            <a:chOff x="924898" y="7397455"/>
            <a:chExt cx="14315578" cy="19842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8691436-3B74-DA29-DBFA-94F70DC65D89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96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E81872-B5CD-BE11-31A6-315FEC64E7A2}"/>
                </a:ext>
              </a:extLst>
            </p:cNvPr>
            <p:cNvSpPr txBox="1"/>
            <p:nvPr/>
          </p:nvSpPr>
          <p:spPr>
            <a:xfrm>
              <a:off x="1234174" y="7397455"/>
              <a:ext cx="14006302" cy="1984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RESULTS: FLOW CYTOMETRY - CULTURE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D33DA5F-8669-73FF-A5B0-E5547D737AB2}"/>
              </a:ext>
            </a:extLst>
          </p:cNvPr>
          <p:cNvGrpSpPr/>
          <p:nvPr/>
        </p:nvGrpSpPr>
        <p:grpSpPr>
          <a:xfrm>
            <a:off x="14467114" y="15814080"/>
            <a:ext cx="13707836" cy="743091"/>
            <a:chOff x="826268" y="7564152"/>
            <a:chExt cx="14576134" cy="170015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BB338D2-B364-BD97-2F5E-37454446D291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96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0E81A02-10B6-28D4-D22D-575365B25FAE}"/>
                </a:ext>
              </a:extLst>
            </p:cNvPr>
            <p:cNvSpPr txBox="1"/>
            <p:nvPr/>
          </p:nvSpPr>
          <p:spPr>
            <a:xfrm>
              <a:off x="826268" y="7582233"/>
              <a:ext cx="14576134" cy="1682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ea typeface="Roboto" panose="02000000000000000000" pitchFamily="2" charset="0"/>
                  <a:cs typeface="Roboto" panose="02000000000000000000" pitchFamily="2" charset="0"/>
                </a:rPr>
                <a:t>RESULTS: SPECTRAL FLOW CYTOMETRY</a:t>
              </a:r>
              <a:endParaRPr lang="en-US" sz="1050" b="1" dirty="0">
                <a:solidFill>
                  <a:schemeClr val="bg1"/>
                </a:solidFill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pic>
        <p:nvPicPr>
          <p:cNvPr id="2048" name="Picture 2047" descr="A picture containing text, diagram&#10;&#10;Description automatically generated">
            <a:extLst>
              <a:ext uri="{FF2B5EF4-FFF2-40B4-BE49-F238E27FC236}">
                <a16:creationId xmlns:a16="http://schemas.microsoft.com/office/drawing/2014/main" id="{74F10149-172A-44D2-7994-0B31F7631E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246" y="17335809"/>
            <a:ext cx="12391781" cy="8112984"/>
          </a:xfrm>
          <a:prstGeom prst="rect">
            <a:avLst/>
          </a:prstGeom>
        </p:spPr>
      </p:pic>
      <p:pic>
        <p:nvPicPr>
          <p:cNvPr id="2050" name="Picture 2049" descr="A picture containing text, diagram&#10;&#10;Description automatically generated">
            <a:extLst>
              <a:ext uri="{FF2B5EF4-FFF2-40B4-BE49-F238E27FC236}">
                <a16:creationId xmlns:a16="http://schemas.microsoft.com/office/drawing/2014/main" id="{9A9F8DCF-48A3-B7C3-976C-8E76D9EBE5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80" y="31486815"/>
            <a:ext cx="12705346" cy="7262567"/>
          </a:xfrm>
          <a:prstGeom prst="rect">
            <a:avLst/>
          </a:prstGeom>
        </p:spPr>
      </p:pic>
      <p:sp>
        <p:nvSpPr>
          <p:cNvPr id="2052" name="TextBox 2051">
            <a:extLst>
              <a:ext uri="{FF2B5EF4-FFF2-40B4-BE49-F238E27FC236}">
                <a16:creationId xmlns:a16="http://schemas.microsoft.com/office/drawing/2014/main" id="{C3EDE705-9E43-CEDF-226F-1F52C8E92114}"/>
              </a:ext>
            </a:extLst>
          </p:cNvPr>
          <p:cNvSpPr txBox="1"/>
          <p:nvPr/>
        </p:nvSpPr>
        <p:spPr>
          <a:xfrm>
            <a:off x="14532429" y="16543855"/>
            <a:ext cx="13318671" cy="1091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3. The cytokine production patterns across exposure groups are replicated by spectral flow cytometry.</a:t>
            </a:r>
          </a:p>
        </p:txBody>
      </p:sp>
      <p:sp>
        <p:nvSpPr>
          <p:cNvPr id="2063" name="TextBox 2062">
            <a:extLst>
              <a:ext uri="{FF2B5EF4-FFF2-40B4-BE49-F238E27FC236}">
                <a16:creationId xmlns:a16="http://schemas.microsoft.com/office/drawing/2014/main" id="{6DD94822-88B3-3461-2028-4354A2F2B70A}"/>
              </a:ext>
            </a:extLst>
          </p:cNvPr>
          <p:cNvSpPr txBox="1"/>
          <p:nvPr/>
        </p:nvSpPr>
        <p:spPr>
          <a:xfrm>
            <a:off x="14508366" y="4092460"/>
            <a:ext cx="137400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2. In vitro proliferation of V</a:t>
            </a:r>
            <a:r>
              <a:rPr lang="el-GR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cells is similar across the cohorts</a:t>
            </a:r>
          </a:p>
          <a:p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</a:t>
            </a:r>
          </a:p>
        </p:txBody>
      </p:sp>
      <p:grpSp>
        <p:nvGrpSpPr>
          <p:cNvPr id="2066" name="Group 2065">
            <a:extLst>
              <a:ext uri="{FF2B5EF4-FFF2-40B4-BE49-F238E27FC236}">
                <a16:creationId xmlns:a16="http://schemas.microsoft.com/office/drawing/2014/main" id="{E5AA968F-355B-0215-126E-3F16795C5A53}"/>
              </a:ext>
            </a:extLst>
          </p:cNvPr>
          <p:cNvGrpSpPr/>
          <p:nvPr/>
        </p:nvGrpSpPr>
        <p:grpSpPr>
          <a:xfrm>
            <a:off x="14410823" y="28215771"/>
            <a:ext cx="13641663" cy="697340"/>
            <a:chOff x="924898" y="7450877"/>
            <a:chExt cx="14315578" cy="1756695"/>
          </a:xfrm>
        </p:grpSpPr>
        <p:sp>
          <p:nvSpPr>
            <p:cNvPr id="2067" name="Rectangle 2066">
              <a:extLst>
                <a:ext uri="{FF2B5EF4-FFF2-40B4-BE49-F238E27FC236}">
                  <a16:creationId xmlns:a16="http://schemas.microsoft.com/office/drawing/2014/main" id="{AFDCEB86-DCCF-4D60-6397-77504F4CDAEF}"/>
                </a:ext>
              </a:extLst>
            </p:cNvPr>
            <p:cNvSpPr/>
            <p:nvPr/>
          </p:nvSpPr>
          <p:spPr>
            <a:xfrm>
              <a:off x="924898" y="7564152"/>
              <a:ext cx="14315578" cy="1468940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96"/>
            </a:p>
          </p:txBody>
        </p:sp>
        <p:sp>
          <p:nvSpPr>
            <p:cNvPr id="2068" name="TextBox 2067">
              <a:extLst>
                <a:ext uri="{FF2B5EF4-FFF2-40B4-BE49-F238E27FC236}">
                  <a16:creationId xmlns:a16="http://schemas.microsoft.com/office/drawing/2014/main" id="{9E1797DF-4908-0D53-5F1F-78F0E66E3C91}"/>
                </a:ext>
              </a:extLst>
            </p:cNvPr>
            <p:cNvSpPr txBox="1"/>
            <p:nvPr/>
          </p:nvSpPr>
          <p:spPr>
            <a:xfrm>
              <a:off x="4305495" y="7450877"/>
              <a:ext cx="7700212" cy="175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</a:rPr>
                <a:t>CONCLUSIONS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0B634A07-EA82-8D1C-297F-5D529F0B1EEB}"/>
              </a:ext>
            </a:extLst>
          </p:cNvPr>
          <p:cNvGrpSpPr/>
          <p:nvPr/>
        </p:nvGrpSpPr>
        <p:grpSpPr>
          <a:xfrm>
            <a:off x="14211300" y="32549780"/>
            <a:ext cx="13764127" cy="7194864"/>
            <a:chOff x="14437894" y="31876014"/>
            <a:chExt cx="13764127" cy="7194864"/>
          </a:xfrm>
        </p:grpSpPr>
        <p:pic>
          <p:nvPicPr>
            <p:cNvPr id="22" name="Picture 6">
              <a:extLst>
                <a:ext uri="{FF2B5EF4-FFF2-40B4-BE49-F238E27FC236}">
                  <a16:creationId xmlns:a16="http://schemas.microsoft.com/office/drawing/2014/main" id="{48492C28-83D0-C23D-DBF2-FA00992074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4145" r="73499" b="49210"/>
            <a:stretch/>
          </p:blipFill>
          <p:spPr>
            <a:xfrm>
              <a:off x="14548184" y="31931810"/>
              <a:ext cx="5543954" cy="5005201"/>
            </a:xfrm>
            <a:prstGeom prst="rect">
              <a:avLst/>
            </a:prstGeom>
          </p:spPr>
        </p:pic>
        <p:sp>
          <p:nvSpPr>
            <p:cNvPr id="2071" name="TextBox 2070">
              <a:extLst>
                <a:ext uri="{FF2B5EF4-FFF2-40B4-BE49-F238E27FC236}">
                  <a16:creationId xmlns:a16="http://schemas.microsoft.com/office/drawing/2014/main" id="{09E71804-5217-BD28-77F5-E33D8E238E11}"/>
                </a:ext>
              </a:extLst>
            </p:cNvPr>
            <p:cNvSpPr txBox="1"/>
            <p:nvPr/>
          </p:nvSpPr>
          <p:spPr>
            <a:xfrm>
              <a:off x="14437894" y="37249768"/>
              <a:ext cx="13764127" cy="1821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Analyze the spectral flow cytometry data using both supervised and unsupervised approaches to understand the impact on other Innate-like T cells. </a:t>
              </a: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sz="28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Finalize acquisition and analysis of longitudinal adaptive T cell responses in our cohort to vaccine antigen (Bacillus Calmette Guerin (BCG)).</a:t>
              </a:r>
            </a:p>
          </p:txBody>
        </p:sp>
        <p:pic>
          <p:nvPicPr>
            <p:cNvPr id="2072" name="Picture 2071" descr="A picture containing screenshot, colorfulness, text, pattern&#10;&#10;Description automatically generated">
              <a:extLst>
                <a:ext uri="{FF2B5EF4-FFF2-40B4-BE49-F238E27FC236}">
                  <a16:creationId xmlns:a16="http://schemas.microsoft.com/office/drawing/2014/main" id="{3F613F9E-81A1-63E6-2998-912E93D65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36791" y="31876014"/>
              <a:ext cx="7424598" cy="5303284"/>
            </a:xfrm>
            <a:prstGeom prst="rect">
              <a:avLst/>
            </a:prstGeom>
          </p:spPr>
        </p:pic>
      </p:grpSp>
      <p:sp>
        <p:nvSpPr>
          <p:cNvPr id="1025" name="TextBox 1024">
            <a:extLst>
              <a:ext uri="{FF2B5EF4-FFF2-40B4-BE49-F238E27FC236}">
                <a16:creationId xmlns:a16="http://schemas.microsoft.com/office/drawing/2014/main" id="{B7C36A2C-9535-326F-A534-F96A5FC2AF9F}"/>
              </a:ext>
            </a:extLst>
          </p:cNvPr>
          <p:cNvSpPr txBox="1"/>
          <p:nvPr/>
        </p:nvSpPr>
        <p:spPr>
          <a:xfrm>
            <a:off x="114301" y="4258455"/>
            <a:ext cx="138684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53106" algn="just"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Maternal antiretroviral therapy (ART) effectively prevents perinatal infection of infants born to mothers living with HIV. </a:t>
            </a:r>
          </a:p>
          <a:p>
            <a:pPr indent="-253106" algn="just"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HIV-exposed Uninfected (HEU) Infants exhibit increased morbidity to lower respiratory tract and diarrheal infections during the first six months life compared to HIV-unexposed (HU) infants. </a:t>
            </a:r>
          </a:p>
          <a:p>
            <a:pPr indent="-253106" algn="just"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Prenatal exposure to HIV and/or ART may perturb the fetal immune system, contributing to the observed increased infectious morbidity.</a:t>
            </a:r>
          </a:p>
          <a:p>
            <a:pPr indent="-253106" algn="just"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</a:t>
            </a:r>
            <a:r>
              <a:rPr lang="el-G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9V</a:t>
            </a:r>
            <a:r>
              <a:rPr lang="el-G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T (V</a:t>
            </a:r>
            <a:r>
              <a:rPr lang="el-G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2) cells, due to their rapid secretion of Th1 cytokines in response to a broad array of pathogens, are likely to play a key role against infections in early life.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indent="-253106" algn="just">
              <a:spcAft>
                <a:spcPts val="13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Elevated inflammation at the fetal-maternal interface may result in dysfunction of 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</a:t>
            </a:r>
            <a:r>
              <a:rPr lang="el-G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</a:t>
            </a:r>
            <a:r>
              <a:rPr lang="en-US" sz="28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cells; however, the effect of in-utero HIV exposure on this subset is unknown.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B0EB6E-CD54-FB3F-9986-5A7761D01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50" y="38672217"/>
            <a:ext cx="4947700" cy="382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FAF70E5C-FD15-7695-0E27-0FECB2BC04D2}"/>
              </a:ext>
            </a:extLst>
          </p:cNvPr>
          <p:cNvSpPr txBox="1"/>
          <p:nvPr/>
        </p:nvSpPr>
        <p:spPr>
          <a:xfrm>
            <a:off x="14403805" y="28960212"/>
            <a:ext cx="13740063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53106" algn="just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In-utero HIV and/or ART exposure impacts cord blood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</a:t>
            </a:r>
            <a:r>
              <a:rPr kumimoji="0" lang="el-G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cells in HEU infants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 increased frequency of cord blood V</a:t>
            </a:r>
            <a:r>
              <a:rPr kumimoji="0" lang="el-GR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cells in HEU infants; </a:t>
            </a:r>
            <a:r>
              <a:rPr lang="en-US" sz="28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corroborating previous observations noted in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Nigerian cohort. </a:t>
            </a:r>
          </a:p>
          <a:p>
            <a:pPr marR="0" lvl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</a:t>
            </a:r>
            <a:r>
              <a:rPr lang="en-US" sz="28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increased frequency of ex-vivo cytokine-producing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</a:t>
            </a:r>
            <a:r>
              <a:rPr kumimoji="0" lang="el-GR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cells was noted </a:t>
            </a:r>
            <a:r>
              <a:rPr lang="en-US" sz="2800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response to PMA-ionomycin. Conversely, a decreased frequency of cytokine-producing cells was noted after expansion with BCG, but not with Zoledronate.</a:t>
            </a:r>
            <a:endParaRPr lang="en-US" sz="2800" b="1" dirty="0">
              <a:solidFill>
                <a:srgbClr val="0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7795C052-A0F8-297C-A7D8-43101E5D7EA7}"/>
              </a:ext>
            </a:extLst>
          </p:cNvPr>
          <p:cNvSpPr txBox="1"/>
          <p:nvPr/>
        </p:nvSpPr>
        <p:spPr>
          <a:xfrm>
            <a:off x="5010151" y="38741684"/>
            <a:ext cx="8134349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Cord Blood Mononuclear cells  (CBMCs) were resuspended at 1.5 x 10</a:t>
            </a:r>
            <a:r>
              <a:rPr lang="en-US" sz="2700" baseline="30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CBMCs and stimulated with PMA plus ionomycin (in the presence of protein transport inhibitors) for six hours, processed and  analyzed on a BD LSR II.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A)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Frequency of cytokine-producing V</a:t>
            </a:r>
            <a:r>
              <a:rPr lang="el-GR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cells was increased in HEU-lo infants compared to HU controls. </a:t>
            </a:r>
            <a:r>
              <a:rPr lang="en-US" sz="27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B)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frequency of V</a:t>
            </a:r>
            <a:r>
              <a:rPr lang="el-GR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cells was increased in HEU-hi infants compared to both HU and HEU-lo infants.   </a:t>
            </a:r>
          </a:p>
        </p:txBody>
      </p:sp>
      <p:pic>
        <p:nvPicPr>
          <p:cNvPr id="1048" name="Picture 1047" descr="A picture containing diagram, text, plan, technical drawing&#10;&#10;Description automatically generated">
            <a:extLst>
              <a:ext uri="{FF2B5EF4-FFF2-40B4-BE49-F238E27FC236}">
                <a16:creationId xmlns:a16="http://schemas.microsoft.com/office/drawing/2014/main" id="{A1B94044-B382-19F8-927E-E97ECF3202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5986" y="4741330"/>
            <a:ext cx="14135100" cy="6449765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04C71034-12CD-C32B-D02E-57FA2A2A6322}"/>
              </a:ext>
            </a:extLst>
          </p:cNvPr>
          <p:cNvSpPr txBox="1"/>
          <p:nvPr/>
        </p:nvSpPr>
        <p:spPr>
          <a:xfrm>
            <a:off x="4298282" y="31394399"/>
            <a:ext cx="9608218" cy="120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392"/>
              </a:lnSpc>
              <a:spcAft>
                <a:spcPts val="1200"/>
              </a:spcAft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ts val="2392"/>
              </a:lnSpc>
              <a:spcAft>
                <a:spcPts val="332"/>
              </a:spcAft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just">
              <a:lnSpc>
                <a:spcPts val="2392"/>
              </a:lnSpc>
              <a:spcAft>
                <a:spcPts val="332"/>
              </a:spcAft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8A993ADE-86B8-2B29-20CF-AF1C7E4AA30E}"/>
              </a:ext>
            </a:extLst>
          </p:cNvPr>
          <p:cNvSpPr txBox="1"/>
          <p:nvPr/>
        </p:nvSpPr>
        <p:spPr>
          <a:xfrm>
            <a:off x="501314" y="34910626"/>
            <a:ext cx="1058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4BB0DD26-CD88-5BE7-DF21-484F46413B26}"/>
              </a:ext>
            </a:extLst>
          </p:cNvPr>
          <p:cNvSpPr txBox="1"/>
          <p:nvPr/>
        </p:nvSpPr>
        <p:spPr>
          <a:xfrm>
            <a:off x="556459" y="41671370"/>
            <a:ext cx="1058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7B7F7478-3CC9-5B23-4DFE-FAA38085B05B}"/>
              </a:ext>
            </a:extLst>
          </p:cNvPr>
          <p:cNvSpPr txBox="1"/>
          <p:nvPr/>
        </p:nvSpPr>
        <p:spPr>
          <a:xfrm>
            <a:off x="14597743" y="25189992"/>
            <a:ext cx="1325880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CBMCs were resuspended at 3.0 x 10</a:t>
            </a:r>
            <a:r>
              <a:rPr kumimoji="0" lang="en-US" sz="27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CBMCs and stimulated with PMA plus ionomycin (in the presence of protein transport inhibitors) for six hours, processed and  analyzed on a Cytek Aurora 5L. </a:t>
            </a:r>
          </a:p>
          <a:p>
            <a:pPr marL="0" marR="0" lvl="0" indent="0" algn="just" defTabSz="457200" rtl="0" eaLnBrk="1" fontAlgn="auto" latinLnBrk="0" hangingPunct="1"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in conventional Flow Cytometry data </a:t>
            </a:r>
            <a:r>
              <a:rPr lang="en-US" sz="27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shown in Figure 1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the frequency of cytokine producing 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</a:t>
            </a:r>
            <a:r>
              <a:rPr lang="el-GR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lang="en-US" sz="2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cells was increased in HEU-lo infants compared to HU controls when analyzed by spectral flow cytometry.  </a:t>
            </a:r>
            <a:r>
              <a:rPr lang="en-US" sz="27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Cytokine-production in HEU-hi infants appears heterogeneous.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E7AD2D1D-395F-238C-41C0-B8E15B9798EC}"/>
              </a:ext>
            </a:extLst>
          </p:cNvPr>
          <p:cNvSpPr txBox="1"/>
          <p:nvPr/>
        </p:nvSpPr>
        <p:spPr>
          <a:xfrm>
            <a:off x="14510084" y="11213432"/>
            <a:ext cx="13306926" cy="5183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CBMCs were treated with A) Bacillus Calmette-Guérin [BCG] (MOI=1) or </a:t>
            </a:r>
            <a:r>
              <a:rPr lang="en-US" sz="27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B) Zoledronate (0.5</a:t>
            </a:r>
            <a:r>
              <a:rPr lang="el-GR" sz="2700" dirty="0">
                <a:solidFill>
                  <a:prstClr val="black"/>
                </a:solidFill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μ</a:t>
            </a:r>
            <a:r>
              <a:rPr lang="en-US" sz="2700" dirty="0">
                <a:solidFill>
                  <a:prstClr val="black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M); plus IL-2 (100 U/mL) for two weeks to expand 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</a:t>
            </a:r>
            <a:r>
              <a:rPr kumimoji="0" lang="el-GR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cells, before resting for 3 days. Intracellular Th1 cytokines were detected in V</a:t>
            </a:r>
            <a:r>
              <a:rPr kumimoji="0" lang="el-GR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cells after restimulation with plastic-immobilized anti-</a:t>
            </a:r>
            <a:r>
              <a:rPr kumimoji="0" lang="el-GR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γδ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TCR antibody (B1.1), followed by processing and analysis on a BD LSR II. </a:t>
            </a:r>
            <a:endParaRPr lang="en-US" sz="2700" dirty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statistically significant differences in frequency of V</a:t>
            </a:r>
            <a:r>
              <a:rPr kumimoji="0" lang="el-GR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δ</a:t>
            </a: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 cells following BCG or ZOL expansion between HEU and HU infants were noted. Following restimulation, HEU-hi infants had a lower frequency of cytokine-producing cells compared to HU controls in the BCG expansion cultures. This altered cytokine response, however, was not observed in Zoledronate expansion cultures. </a:t>
            </a:r>
          </a:p>
          <a:p>
            <a:pPr marL="0" marR="0" lvl="0" indent="0" algn="just" defTabSz="457200" rtl="0" eaLnBrk="1" fontAlgn="auto" latinLnBrk="0" hangingPunct="1">
              <a:lnSpc>
                <a:spcPts val="2392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ts val="2392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7165C-D77F-FE3F-EA1E-3A71E2897E80}"/>
              </a:ext>
            </a:extLst>
          </p:cNvPr>
          <p:cNvGrpSpPr/>
          <p:nvPr/>
        </p:nvGrpSpPr>
        <p:grpSpPr>
          <a:xfrm>
            <a:off x="336885" y="21384126"/>
            <a:ext cx="13584081" cy="7947635"/>
            <a:chOff x="593559" y="21563912"/>
            <a:chExt cx="13118860" cy="7655556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77459B2E-4691-C1A0-75F6-1096FCB79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845519" y="21563912"/>
              <a:ext cx="1866900" cy="7609390"/>
            </a:xfrm>
            <a:prstGeom prst="rect">
              <a:avLst/>
            </a:prstGeom>
          </p:spPr>
        </p:pic>
        <p:pic>
          <p:nvPicPr>
            <p:cNvPr id="3" name="Picture 2" descr="A picture containing text, screenshot, bird&#10;&#10;Description automatically generated">
              <a:extLst>
                <a:ext uri="{FF2B5EF4-FFF2-40B4-BE49-F238E27FC236}">
                  <a16:creationId xmlns:a16="http://schemas.microsoft.com/office/drawing/2014/main" id="{FDE3D8EA-98F7-BC7B-C537-9A7375392C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80" r="16911" b="9819"/>
            <a:stretch/>
          </p:blipFill>
          <p:spPr>
            <a:xfrm>
              <a:off x="593559" y="21577904"/>
              <a:ext cx="11309684" cy="7641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8936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859</TotalTime>
  <Words>819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Rach, David</dc:creator>
  <cp:lastModifiedBy>Rach, David</cp:lastModifiedBy>
  <cp:revision>11</cp:revision>
  <dcterms:created xsi:type="dcterms:W3CDTF">2023-05-08T13:05:47Z</dcterms:created>
  <dcterms:modified xsi:type="dcterms:W3CDTF">2026-06-11T04:26:24Z</dcterms:modified>
</cp:coreProperties>
</file>